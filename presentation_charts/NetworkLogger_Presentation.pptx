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914400" y="2377440"/>
            <a:ext cx="10332720" cy="914400"/>
          </a:xfrm>
          <a:prstGeom prst="rect">
            <a:avLst/>
          </a:prstGeom>
          <a:noFill/>
        </p:spPr>
        <p:txBody>
          <a:bodyPr wrap="square">
            <a:spAutoFit/>
          </a:bodyPr>
          <a:lstStyle/>
          <a:p>
            <a:pPr algn="l"/>
            <a:r>
              <a:rPr sz="4400" b="1" i="0">
                <a:solidFill>
                  <a:srgbClr val="FFFFFF"/>
                </a:solidFill>
                <a:latin typeface="Calibri"/>
              </a:rPr>
              <a:t>NetworkLogger</a:t>
            </a:r>
          </a:p>
        </p:txBody>
      </p:sp>
      <p:sp>
        <p:nvSpPr>
          <p:cNvPr id="3" name="TextBox 2"/>
          <p:cNvSpPr txBox="1"/>
          <p:nvPr/>
        </p:nvSpPr>
        <p:spPr>
          <a:xfrm>
            <a:off x="914400" y="3200400"/>
            <a:ext cx="10332720" cy="548640"/>
          </a:xfrm>
          <a:prstGeom prst="rect">
            <a:avLst/>
          </a:prstGeom>
          <a:noFill/>
        </p:spPr>
        <p:txBody>
          <a:bodyPr wrap="square">
            <a:spAutoFit/>
          </a:bodyPr>
          <a:lstStyle/>
          <a:p>
            <a:pPr algn="l"/>
            <a:r>
              <a:rPr sz="2200" b="0" i="0">
                <a:solidFill>
                  <a:srgbClr val="CADCFC"/>
                </a:solidFill>
                <a:latin typeface="Calibri"/>
              </a:rPr>
              <a:t>Android Telecom &amp; Device Health Monitoring</a:t>
            </a:r>
          </a:p>
        </p:txBody>
      </p:sp>
      <p:sp>
        <p:nvSpPr>
          <p:cNvPr id="4" name="TextBox 3"/>
          <p:cNvSpPr txBox="1"/>
          <p:nvPr/>
        </p:nvSpPr>
        <p:spPr>
          <a:xfrm>
            <a:off x="914400" y="3794760"/>
            <a:ext cx="9601200" cy="457200"/>
          </a:xfrm>
          <a:prstGeom prst="rect">
            <a:avLst/>
          </a:prstGeom>
          <a:noFill/>
        </p:spPr>
        <p:txBody>
          <a:bodyPr wrap="square">
            <a:spAutoFit/>
          </a:bodyPr>
          <a:lstStyle/>
          <a:p>
            <a:pPr algn="l"/>
            <a:r>
              <a:rPr sz="1400" b="0" i="1">
                <a:solidFill>
                  <a:srgbClr val="6B7280"/>
                </a:solidFill>
                <a:latin typeface="Calibri"/>
              </a:rPr>
              <a:t>Real-time signal, cell-tower, throughput and device-health logging for network research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515600" cy="731520"/>
          </a:xfrm>
          <a:prstGeom prst="rect">
            <a:avLst/>
          </a:prstGeom>
          <a:noFill/>
        </p:spPr>
        <p:txBody>
          <a:bodyPr wrap="square">
            <a:spAutoFit/>
          </a:bodyPr>
          <a:lstStyle/>
          <a:p>
            <a:pPr algn="l"/>
            <a:r>
              <a:rPr sz="3200" b="1" i="0">
                <a:solidFill>
                  <a:srgbClr val="111827"/>
                </a:solidFill>
                <a:latin typeface="Calibri"/>
              </a:rPr>
              <a:t>Introduction &amp; Purpose</a:t>
            </a:r>
          </a:p>
        </p:txBody>
      </p:sp>
      <p:sp>
        <p:nvSpPr>
          <p:cNvPr id="3" name="TextBox 2"/>
          <p:cNvSpPr txBox="1"/>
          <p:nvPr/>
        </p:nvSpPr>
        <p:spPr>
          <a:xfrm>
            <a:off x="640080" y="1371600"/>
            <a:ext cx="10698480" cy="822960"/>
          </a:xfrm>
          <a:prstGeom prst="rect">
            <a:avLst/>
          </a:prstGeom>
          <a:noFill/>
        </p:spPr>
        <p:txBody>
          <a:bodyPr wrap="square">
            <a:spAutoFit/>
          </a:bodyPr>
          <a:lstStyle/>
          <a:p>
            <a:pPr algn="l"/>
            <a:r>
              <a:rPr sz="2200" b="1" i="1">
                <a:solidFill>
                  <a:srgbClr val="6366F1"/>
                </a:solidFill>
                <a:latin typeface="Calibri"/>
              </a:rPr>
              <a:t>A field-data collection tool for real-world cellular network research.</a:t>
            </a:r>
          </a:p>
        </p:txBody>
      </p:sp>
      <p:sp>
        <p:nvSpPr>
          <p:cNvPr id="4" name="TextBox 3"/>
          <p:cNvSpPr txBox="1"/>
          <p:nvPr/>
        </p:nvSpPr>
        <p:spPr>
          <a:xfrm>
            <a:off x="640080" y="2331720"/>
            <a:ext cx="10698480" cy="1188720"/>
          </a:xfrm>
          <a:prstGeom prst="rect">
            <a:avLst/>
          </a:prstGeom>
          <a:noFill/>
        </p:spPr>
        <p:txBody>
          <a:bodyPr wrap="square">
            <a:spAutoFit/>
          </a:bodyPr>
          <a:lstStyle/>
          <a:p>
            <a:pPr algn="l"/>
            <a:r>
              <a:rPr sz="1600" b="0" i="0">
                <a:solidFill>
                  <a:srgbClr val="111827"/>
                </a:solidFill>
                <a:latin typeface="Calibri"/>
              </a:rPr>
              <a:t>Lab equipment and drive tests capture network conditions in controlled settings. NetworkLogger instead runs as an ordinary Android app on ordinary phones, capturing authentic signal, mobility, and throughput data during everyday use — the actual conditions a network operates under.</a:t>
            </a:r>
          </a:p>
        </p:txBody>
      </p:sp>
      <p:sp>
        <p:nvSpPr>
          <p:cNvPr id="5" name="TextBox 4"/>
          <p:cNvSpPr txBox="1"/>
          <p:nvPr/>
        </p:nvSpPr>
        <p:spPr>
          <a:xfrm>
            <a:off x="640080" y="3657600"/>
            <a:ext cx="10881360" cy="2743200"/>
          </a:xfrm>
          <a:prstGeom prst="rect">
            <a:avLst/>
          </a:prstGeom>
          <a:noFill/>
        </p:spPr>
        <p:txBody>
          <a:bodyPr wrap="square">
            <a:spAutoFit/>
          </a:bodyPr>
          <a:lstStyle/>
          <a:p>
            <a:pPr>
              <a:spcAft>
                <a:spcPts val="1400"/>
              </a:spcAft>
            </a:pPr>
            <a:r>
              <a:rPr b="1" sz="1500">
                <a:solidFill>
                  <a:srgbClr val="6366F1"/>
                </a:solidFill>
                <a:latin typeface="Calibri"/>
              </a:rPr>
              <a:t>What.  </a:t>
            </a:r>
            <a:r>
              <a:rPr sz="1500">
                <a:solidFill>
                  <a:srgbClr val="111827"/>
                </a:solidFill>
                <a:latin typeface="Calibri"/>
              </a:rPr>
              <a:t>Cellular RF conditions, GPS-based mobility, realized throughput, and device-health context (battery/RAM/storage) that can confound signal readings.</a:t>
            </a:r>
          </a:p>
          <a:p>
            <a:pPr>
              <a:spcAft>
                <a:spcPts val="1400"/>
              </a:spcAft>
            </a:pPr>
            <a:r>
              <a:rPr b="1" sz="1500">
                <a:solidFill>
                  <a:srgbClr val="6366F1"/>
                </a:solidFill>
                <a:latin typeface="Calibri"/>
              </a:rPr>
              <a:t>How.  </a:t>
            </a:r>
            <a:r>
              <a:rPr sz="1500">
                <a:solidFill>
                  <a:srgbClr val="111827"/>
                </a:solidFill>
                <a:latin typeface="Calibri"/>
              </a:rPr>
              <a:t>Two independent logging pipelines on-device — a user-triggered 5-second foreground session, and an always-on 15-minute background trace — both writing structured CSV logs that sync to the cloud.</a:t>
            </a:r>
          </a:p>
          <a:p>
            <a:pPr>
              <a:spcAft>
                <a:spcPts val="1400"/>
              </a:spcAft>
            </a:pPr>
            <a:r>
              <a:rPr b="1" sz="1500">
                <a:solidFill>
                  <a:srgbClr val="6366F1"/>
                </a:solidFill>
                <a:latin typeface="Calibri"/>
              </a:rPr>
              <a:t>Why it matters.  </a:t>
            </a:r>
            <a:r>
              <a:rPr sz="1500">
                <a:solidFill>
                  <a:srgbClr val="111827"/>
                </a:solidFill>
                <a:latin typeface="Calibri"/>
              </a:rPr>
              <a:t>Enables comparing signal quality, radio-technology behavior (4G/5G), and throughput across real devices, carriers, and locations — not synthetic benchmarks.</a:t>
            </a:r>
          </a:p>
        </p:txBody>
      </p:sp>
      <p:sp>
        <p:nvSpPr>
          <p:cNvPr id="6" name="TextBox 5"/>
          <p:cNvSpPr txBox="1"/>
          <p:nvPr/>
        </p:nvSpPr>
        <p:spPr>
          <a:xfrm>
            <a:off x="11521440" y="6446520"/>
            <a:ext cx="457200" cy="320040"/>
          </a:xfrm>
          <a:prstGeom prst="rect">
            <a:avLst/>
          </a:prstGeom>
          <a:noFill/>
        </p:spPr>
        <p:txBody>
          <a:bodyPr wrap="square">
            <a:spAutoFit/>
          </a:bodyPr>
          <a:lstStyle/>
          <a:p>
            <a:pPr algn="r"/>
            <a:r>
              <a:rPr sz="110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9144000" cy="640080"/>
          </a:xfrm>
          <a:prstGeom prst="rect">
            <a:avLst/>
          </a:prstGeom>
          <a:noFill/>
        </p:spPr>
        <p:txBody>
          <a:bodyPr wrap="square">
            <a:spAutoFit/>
          </a:bodyPr>
          <a:lstStyle/>
          <a:p>
            <a:pPr algn="l"/>
            <a:r>
              <a:rPr sz="3200" b="1" i="0">
                <a:solidFill>
                  <a:srgbClr val="111827"/>
                </a:solidFill>
                <a:latin typeface="Calibri"/>
              </a:rPr>
              <a:t>What It Monitors</a:t>
            </a:r>
          </a:p>
        </p:txBody>
      </p:sp>
      <p:sp>
        <p:nvSpPr>
          <p:cNvPr id="3" name="TextBox 2"/>
          <p:cNvSpPr txBox="1"/>
          <p:nvPr/>
        </p:nvSpPr>
        <p:spPr>
          <a:xfrm>
            <a:off x="640080" y="1143000"/>
            <a:ext cx="10789920" cy="2743200"/>
          </a:xfrm>
          <a:prstGeom prst="rect">
            <a:avLst/>
          </a:prstGeom>
          <a:noFill/>
        </p:spPr>
        <p:txBody>
          <a:bodyPr wrap="square">
            <a:spAutoFit/>
          </a:bodyPr>
          <a:lstStyle/>
          <a:p>
            <a:pPr>
              <a:spcAft>
                <a:spcPts val="1300"/>
              </a:spcAft>
            </a:pPr>
            <a:r>
              <a:rPr b="1" sz="1700">
                <a:solidFill>
                  <a:srgbClr val="6366F1"/>
                </a:solidFill>
                <a:latin typeface="Calibri"/>
              </a:rPr>
              <a:t>Cellular signal &amp; cell identity  —  </a:t>
            </a:r>
            <a:r>
              <a:rPr sz="1700">
                <a:solidFill>
                  <a:srgbClr val="111827"/>
                </a:solidFill>
                <a:latin typeface="Calibri"/>
              </a:rPr>
              <a:t>RSRP, RSRQ, PCI, TAC, NCI; distinguishes 4G, 5G Standalone, and 5G NSA</a:t>
            </a:r>
          </a:p>
          <a:p>
            <a:pPr>
              <a:spcAft>
                <a:spcPts val="1300"/>
              </a:spcAft>
            </a:pPr>
            <a:r>
              <a:rPr b="1" sz="1700">
                <a:solidFill>
                  <a:srgbClr val="6366F1"/>
                </a:solidFill>
                <a:latin typeface="Calibri"/>
              </a:rPr>
              <a:t>Location &amp; throughput  —  </a:t>
            </a:r>
            <a:r>
              <a:rPr sz="1700">
                <a:solidFill>
                  <a:srgbClr val="111827"/>
                </a:solidFill>
                <a:latin typeface="Calibri"/>
              </a:rPr>
              <a:t>GPS lat/lon, downlink/uplink kbps</a:t>
            </a:r>
          </a:p>
          <a:p>
            <a:pPr>
              <a:spcAft>
                <a:spcPts val="1300"/>
              </a:spcAft>
            </a:pPr>
            <a:r>
              <a:rPr b="1" sz="1700">
                <a:solidFill>
                  <a:srgbClr val="6366F1"/>
                </a:solidFill>
                <a:latin typeface="Calibri"/>
              </a:rPr>
              <a:t>Device health  —  </a:t>
            </a:r>
            <a:r>
              <a:rPr sz="1700">
                <a:solidFill>
                  <a:srgbClr val="111827"/>
                </a:solidFill>
                <a:latin typeface="Calibri"/>
              </a:rPr>
              <a:t>battery %, RAM, storage</a:t>
            </a:r>
          </a:p>
          <a:p>
            <a:pPr>
              <a:spcAft>
                <a:spcPts val="1300"/>
              </a:spcAft>
            </a:pPr>
            <a:r>
              <a:rPr b="1" sz="1700">
                <a:solidFill>
                  <a:srgbClr val="6366F1"/>
                </a:solidFill>
                <a:latin typeface="Calibri"/>
              </a:rPr>
              <a:t>Two logging cadences  —  </a:t>
            </a:r>
            <a:r>
              <a:rPr sz="1700">
                <a:solidFill>
                  <a:srgbClr val="111827"/>
                </a:solidFill>
                <a:latin typeface="Calibri"/>
              </a:rPr>
              <a:t>a 5-second foreground service for fine-grained sessions, and a 15-minute background worker for always-on monitoring</a:t>
            </a:r>
          </a:p>
        </p:txBody>
      </p:sp>
      <p:sp>
        <p:nvSpPr>
          <p:cNvPr id="4" name="Rounded Rectangle 3"/>
          <p:cNvSpPr/>
          <p:nvPr/>
        </p:nvSpPr>
        <p:spPr>
          <a:xfrm>
            <a:off x="640080" y="4160520"/>
            <a:ext cx="10881360" cy="2148840"/>
          </a:xfrm>
          <a:prstGeom prst="roundRect">
            <a:avLst/>
          </a:prstGeom>
          <a:solidFill>
            <a:srgbClr val="F5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4343400"/>
            <a:ext cx="5486400" cy="320040"/>
          </a:xfrm>
          <a:prstGeom prst="rect">
            <a:avLst/>
          </a:prstGeom>
          <a:noFill/>
        </p:spPr>
        <p:txBody>
          <a:bodyPr wrap="square">
            <a:spAutoFit/>
          </a:bodyPr>
          <a:lstStyle/>
          <a:p>
            <a:pPr algn="l"/>
            <a:r>
              <a:rPr sz="1300" b="1" i="0">
                <a:solidFill>
                  <a:srgbClr val="6366F1"/>
                </a:solidFill>
                <a:latin typeface="Calibri"/>
              </a:rPr>
              <a:t>QUICK GLOSSARY</a:t>
            </a:r>
          </a:p>
        </p:txBody>
      </p:sp>
      <p:sp>
        <p:nvSpPr>
          <p:cNvPr id="6" name="TextBox 5"/>
          <p:cNvSpPr txBox="1"/>
          <p:nvPr/>
        </p:nvSpPr>
        <p:spPr>
          <a:xfrm>
            <a:off x="960120" y="4709160"/>
            <a:ext cx="5120640" cy="1463040"/>
          </a:xfrm>
          <a:prstGeom prst="rect">
            <a:avLst/>
          </a:prstGeom>
          <a:noFill/>
        </p:spPr>
        <p:txBody>
          <a:bodyPr wrap="square">
            <a:spAutoFit/>
          </a:bodyPr>
          <a:lstStyle/>
          <a:p>
            <a:pPr>
              <a:spcAft>
                <a:spcPts val="800"/>
              </a:spcAft>
            </a:pPr>
            <a:r>
              <a:rPr b="1" sz="1300">
                <a:solidFill>
                  <a:srgbClr val="6366F1"/>
                </a:solidFill>
                <a:latin typeface="Calibri"/>
              </a:rPr>
              <a:t>RSRP  —  </a:t>
            </a:r>
            <a:r>
              <a:rPr sz="1300">
                <a:solidFill>
                  <a:srgbClr val="111827"/>
                </a:solidFill>
                <a:latin typeface="Calibri"/>
              </a:rPr>
              <a:t>how strong the signal is</a:t>
            </a:r>
          </a:p>
          <a:p>
            <a:pPr>
              <a:spcAft>
                <a:spcPts val="800"/>
              </a:spcAft>
            </a:pPr>
            <a:r>
              <a:rPr b="1" sz="1300">
                <a:solidFill>
                  <a:srgbClr val="6366F1"/>
                </a:solidFill>
                <a:latin typeface="Calibri"/>
              </a:rPr>
              <a:t>RSRQ  —  </a:t>
            </a:r>
            <a:r>
              <a:rPr sz="1300">
                <a:solidFill>
                  <a:srgbClr val="111827"/>
                </a:solidFill>
                <a:latin typeface="Calibri"/>
              </a:rPr>
              <a:t>how clean/usable the signal is (accounts for interference)</a:t>
            </a:r>
          </a:p>
          <a:p>
            <a:pPr>
              <a:spcAft>
                <a:spcPts val="800"/>
              </a:spcAft>
            </a:pPr>
            <a:r>
              <a:rPr b="1" sz="1300">
                <a:solidFill>
                  <a:srgbClr val="6366F1"/>
                </a:solidFill>
                <a:latin typeface="Calibri"/>
              </a:rPr>
              <a:t>PCI  —  </a:t>
            </a:r>
            <a:r>
              <a:rPr sz="1300">
                <a:solidFill>
                  <a:srgbClr val="111827"/>
                </a:solidFill>
                <a:latin typeface="Calibri"/>
              </a:rPr>
              <a:t>which physical cell/sector you're connected to</a:t>
            </a:r>
          </a:p>
        </p:txBody>
      </p:sp>
      <p:sp>
        <p:nvSpPr>
          <p:cNvPr id="7" name="TextBox 6"/>
          <p:cNvSpPr txBox="1"/>
          <p:nvPr/>
        </p:nvSpPr>
        <p:spPr>
          <a:xfrm>
            <a:off x="6309360" y="4709160"/>
            <a:ext cx="5029200" cy="1463040"/>
          </a:xfrm>
          <a:prstGeom prst="rect">
            <a:avLst/>
          </a:prstGeom>
          <a:noFill/>
        </p:spPr>
        <p:txBody>
          <a:bodyPr wrap="square">
            <a:spAutoFit/>
          </a:bodyPr>
          <a:lstStyle/>
          <a:p>
            <a:pPr>
              <a:spcAft>
                <a:spcPts val="800"/>
              </a:spcAft>
            </a:pPr>
            <a:r>
              <a:rPr b="1" sz="1300">
                <a:solidFill>
                  <a:srgbClr val="6366F1"/>
                </a:solidFill>
                <a:latin typeface="Calibri"/>
              </a:rPr>
              <a:t>TAC  —  </a:t>
            </a:r>
            <a:r>
              <a:rPr sz="1300">
                <a:solidFill>
                  <a:srgbClr val="111827"/>
                </a:solidFill>
                <a:latin typeface="Calibri"/>
              </a:rPr>
              <a:t>identifies a group of nearby cells</a:t>
            </a:r>
          </a:p>
          <a:p>
            <a:pPr>
              <a:spcAft>
                <a:spcPts val="800"/>
              </a:spcAft>
            </a:pPr>
            <a:r>
              <a:rPr b="1" sz="1300">
                <a:solidFill>
                  <a:srgbClr val="6366F1"/>
                </a:solidFill>
                <a:latin typeface="Calibri"/>
              </a:rPr>
              <a:t>NCI  —  </a:t>
            </a:r>
            <a:r>
              <a:rPr sz="1300">
                <a:solidFill>
                  <a:srgbClr val="111827"/>
                </a:solidFill>
                <a:latin typeface="Calibri"/>
              </a:rPr>
              <a:t>the exact cell's unique ID</a:t>
            </a:r>
          </a:p>
        </p:txBody>
      </p:sp>
      <p:sp>
        <p:nvSpPr>
          <p:cNvPr id="8" name="TextBox 7"/>
          <p:cNvSpPr txBox="1"/>
          <p:nvPr/>
        </p:nvSpPr>
        <p:spPr>
          <a:xfrm>
            <a:off x="11521440" y="6446520"/>
            <a:ext cx="457200" cy="320040"/>
          </a:xfrm>
          <a:prstGeom prst="rect">
            <a:avLst/>
          </a:prstGeom>
          <a:noFill/>
        </p:spPr>
        <p:txBody>
          <a:bodyPr wrap="square">
            <a:spAutoFit/>
          </a:bodyPr>
          <a:lstStyle/>
          <a:p>
            <a:pPr algn="r"/>
            <a:r>
              <a:rPr sz="110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9144000" cy="731520"/>
          </a:xfrm>
          <a:prstGeom prst="rect">
            <a:avLst/>
          </a:prstGeom>
          <a:noFill/>
        </p:spPr>
        <p:txBody>
          <a:bodyPr wrap="square">
            <a:spAutoFit/>
          </a:bodyPr>
          <a:lstStyle/>
          <a:p>
            <a:pPr algn="l"/>
            <a:r>
              <a:rPr sz="3200" b="1" i="0">
                <a:solidFill>
                  <a:srgbClr val="111827"/>
                </a:solidFill>
                <a:latin typeface="Calibri"/>
              </a:rPr>
              <a:t>System Architecture</a:t>
            </a:r>
          </a:p>
        </p:txBody>
      </p:sp>
      <p:sp>
        <p:nvSpPr>
          <p:cNvPr id="3" name="Rounded Rectangle 2"/>
          <p:cNvSpPr/>
          <p:nvPr/>
        </p:nvSpPr>
        <p:spPr>
          <a:xfrm>
            <a:off x="769467" y="2743200"/>
            <a:ext cx="1874519" cy="1188720"/>
          </a:xfrm>
          <a:prstGeom prst="roundRect">
            <a:avLst/>
          </a:prstGeom>
          <a:solidFill>
            <a:srgbClr val="161D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Android App
(Service + WorkManager)</a:t>
            </a:r>
          </a:p>
        </p:txBody>
      </p:sp>
      <p:sp>
        <p:nvSpPr>
          <p:cNvPr id="4" name="TextBox 3"/>
          <p:cNvSpPr txBox="1"/>
          <p:nvPr/>
        </p:nvSpPr>
        <p:spPr>
          <a:xfrm>
            <a:off x="2643987" y="2743200"/>
            <a:ext cx="320040" cy="1188720"/>
          </a:xfrm>
          <a:prstGeom prst="rect">
            <a:avLst/>
          </a:prstGeom>
          <a:noFill/>
        </p:spPr>
        <p:txBody>
          <a:bodyPr wrap="square" anchor="ctr">
            <a:spAutoFit/>
          </a:bodyPr>
          <a:lstStyle/>
          <a:p>
            <a:pPr algn="ctr"/>
            <a:r>
              <a:rPr sz="2200" b="0" i="0">
                <a:solidFill>
                  <a:srgbClr val="6366F1"/>
                </a:solidFill>
                <a:latin typeface="Calibri"/>
              </a:rPr>
              <a:t>→</a:t>
            </a:r>
          </a:p>
        </p:txBody>
      </p:sp>
      <p:sp>
        <p:nvSpPr>
          <p:cNvPr id="5" name="Rounded Rectangle 4"/>
          <p:cNvSpPr/>
          <p:nvPr/>
        </p:nvSpPr>
        <p:spPr>
          <a:xfrm>
            <a:off x="2964027" y="2743200"/>
            <a:ext cx="1874519" cy="1188720"/>
          </a:xfrm>
          <a:prstGeom prst="roundRect">
            <a:avLst/>
          </a:prstGeom>
          <a:solidFill>
            <a:srgbClr val="161D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Firebase
Cloud Storage</a:t>
            </a:r>
          </a:p>
        </p:txBody>
      </p:sp>
      <p:sp>
        <p:nvSpPr>
          <p:cNvPr id="6" name="TextBox 5"/>
          <p:cNvSpPr txBox="1"/>
          <p:nvPr/>
        </p:nvSpPr>
        <p:spPr>
          <a:xfrm>
            <a:off x="4838547" y="2743200"/>
            <a:ext cx="320040" cy="1188720"/>
          </a:xfrm>
          <a:prstGeom prst="rect">
            <a:avLst/>
          </a:prstGeom>
          <a:noFill/>
        </p:spPr>
        <p:txBody>
          <a:bodyPr wrap="square" anchor="ctr">
            <a:spAutoFit/>
          </a:bodyPr>
          <a:lstStyle/>
          <a:p>
            <a:pPr algn="ctr"/>
            <a:r>
              <a:rPr sz="2200" b="0" i="0">
                <a:solidFill>
                  <a:srgbClr val="6366F1"/>
                </a:solidFill>
                <a:latin typeface="Calibri"/>
              </a:rPr>
              <a:t>→</a:t>
            </a:r>
          </a:p>
        </p:txBody>
      </p:sp>
      <p:sp>
        <p:nvSpPr>
          <p:cNvPr id="7" name="Rounded Rectangle 6"/>
          <p:cNvSpPr/>
          <p:nvPr/>
        </p:nvSpPr>
        <p:spPr>
          <a:xfrm>
            <a:off x="5158587" y="2743200"/>
            <a:ext cx="1874519" cy="1188720"/>
          </a:xfrm>
          <a:prstGeom prst="roundRect">
            <a:avLst/>
          </a:prstGeom>
          <a:solidFill>
            <a:srgbClr val="161D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Local Ingestion
Script (Python)</a:t>
            </a:r>
          </a:p>
        </p:txBody>
      </p:sp>
      <p:sp>
        <p:nvSpPr>
          <p:cNvPr id="8" name="TextBox 7"/>
          <p:cNvSpPr txBox="1"/>
          <p:nvPr/>
        </p:nvSpPr>
        <p:spPr>
          <a:xfrm>
            <a:off x="7033107" y="2743200"/>
            <a:ext cx="320040" cy="1188720"/>
          </a:xfrm>
          <a:prstGeom prst="rect">
            <a:avLst/>
          </a:prstGeom>
          <a:noFill/>
        </p:spPr>
        <p:txBody>
          <a:bodyPr wrap="square" anchor="ctr">
            <a:spAutoFit/>
          </a:bodyPr>
          <a:lstStyle/>
          <a:p>
            <a:pPr algn="ctr"/>
            <a:r>
              <a:rPr sz="2200" b="0" i="0">
                <a:solidFill>
                  <a:srgbClr val="6366F1"/>
                </a:solidFill>
                <a:latin typeface="Calibri"/>
              </a:rPr>
              <a:t>→</a:t>
            </a:r>
          </a:p>
        </p:txBody>
      </p:sp>
      <p:sp>
        <p:nvSpPr>
          <p:cNvPr id="9" name="Rounded Rectangle 8"/>
          <p:cNvSpPr/>
          <p:nvPr/>
        </p:nvSpPr>
        <p:spPr>
          <a:xfrm>
            <a:off x="7353147" y="2743200"/>
            <a:ext cx="1874519" cy="1188720"/>
          </a:xfrm>
          <a:prstGeom prst="roundRect">
            <a:avLst/>
          </a:prstGeom>
          <a:solidFill>
            <a:srgbClr val="161D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InfluxDB</a:t>
            </a:r>
          </a:p>
        </p:txBody>
      </p:sp>
      <p:sp>
        <p:nvSpPr>
          <p:cNvPr id="10" name="TextBox 9"/>
          <p:cNvSpPr txBox="1"/>
          <p:nvPr/>
        </p:nvSpPr>
        <p:spPr>
          <a:xfrm>
            <a:off x="9227667" y="2743200"/>
            <a:ext cx="320040" cy="1188720"/>
          </a:xfrm>
          <a:prstGeom prst="rect">
            <a:avLst/>
          </a:prstGeom>
          <a:noFill/>
        </p:spPr>
        <p:txBody>
          <a:bodyPr wrap="square" anchor="ctr">
            <a:spAutoFit/>
          </a:bodyPr>
          <a:lstStyle/>
          <a:p>
            <a:pPr algn="ctr"/>
            <a:r>
              <a:rPr sz="2200" b="0" i="0">
                <a:solidFill>
                  <a:srgbClr val="6366F1"/>
                </a:solidFill>
                <a:latin typeface="Calibri"/>
              </a:rPr>
              <a:t>→</a:t>
            </a:r>
          </a:p>
        </p:txBody>
      </p:sp>
      <p:sp>
        <p:nvSpPr>
          <p:cNvPr id="11" name="Rounded Rectangle 10"/>
          <p:cNvSpPr/>
          <p:nvPr/>
        </p:nvSpPr>
        <p:spPr>
          <a:xfrm>
            <a:off x="9547707" y="2743200"/>
            <a:ext cx="1874519" cy="1188720"/>
          </a:xfrm>
          <a:prstGeom prst="roundRect">
            <a:avLst/>
          </a:prstGeom>
          <a:solidFill>
            <a:srgbClr val="161D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Grafana</a:t>
            </a:r>
          </a:p>
        </p:txBody>
      </p:sp>
      <p:sp>
        <p:nvSpPr>
          <p:cNvPr id="12" name="TextBox 11"/>
          <p:cNvSpPr txBox="1"/>
          <p:nvPr/>
        </p:nvSpPr>
        <p:spPr>
          <a:xfrm>
            <a:off x="822960" y="4434840"/>
            <a:ext cx="10515600" cy="2286000"/>
          </a:xfrm>
          <a:prstGeom prst="rect">
            <a:avLst/>
          </a:prstGeom>
          <a:noFill/>
        </p:spPr>
        <p:txBody>
          <a:bodyPr wrap="square">
            <a:spAutoFit/>
          </a:bodyPr>
          <a:lstStyle/>
          <a:p>
            <a:pPr>
              <a:spcAft>
                <a:spcPts val="800"/>
              </a:spcAft>
            </a:pPr>
            <a:r>
              <a:rPr b="1" sz="1400">
                <a:solidFill>
                  <a:srgbClr val="6366F1"/>
                </a:solidFill>
                <a:latin typeface="Calibri"/>
              </a:rPr>
              <a:t>1.  </a:t>
            </a:r>
            <a:r>
              <a:rPr sz="1400">
                <a:solidFill>
                  <a:srgbClr val="111827"/>
                </a:solidFill>
                <a:latin typeface="Calibri"/>
              </a:rPr>
              <a:t>Tapping Start Logging launches a foreground Service that samples GPS, signal, and throughput every 5 seconds and writes to a local CSV.</a:t>
            </a:r>
          </a:p>
          <a:p>
            <a:pPr>
              <a:spcAft>
                <a:spcPts val="800"/>
              </a:spcAft>
            </a:pPr>
            <a:r>
              <a:rPr b="1" sz="1400">
                <a:solidFill>
                  <a:srgbClr val="6366F1"/>
                </a:solidFill>
                <a:latin typeface="Calibri"/>
              </a:rPr>
              <a:t>2.  </a:t>
            </a:r>
            <a:r>
              <a:rPr sz="1400">
                <a:solidFill>
                  <a:srgbClr val="111827"/>
                </a:solidFill>
                <a:latin typeface="Calibri"/>
              </a:rPr>
              <a:t>Independently, a WorkManager job runs every 15 minutes in the background — capturing device health and coarse signal data whether or not a session is active.</a:t>
            </a:r>
          </a:p>
          <a:p>
            <a:pPr>
              <a:spcAft>
                <a:spcPts val="800"/>
              </a:spcAft>
            </a:pPr>
            <a:r>
              <a:rPr b="1" sz="1400">
                <a:solidFill>
                  <a:srgbClr val="6366F1"/>
                </a:solidFill>
                <a:latin typeface="Calibri"/>
              </a:rPr>
              <a:t>3.  </a:t>
            </a:r>
            <a:r>
              <a:rPr sz="1400">
                <a:solidFill>
                  <a:srgbClr val="111827"/>
                </a:solidFill>
                <a:latin typeface="Calibri"/>
              </a:rPr>
              <a:t>On Stop, both CSVs are tagged with device/session/tester metadata, uploaded to Firebase Cloud Storage, and cleared locally for the next session.</a:t>
            </a:r>
          </a:p>
        </p:txBody>
      </p:sp>
      <p:sp>
        <p:nvSpPr>
          <p:cNvPr id="13" name="TextBox 12"/>
          <p:cNvSpPr txBox="1"/>
          <p:nvPr/>
        </p:nvSpPr>
        <p:spPr>
          <a:xfrm>
            <a:off x="11521440" y="6446520"/>
            <a:ext cx="457200" cy="320040"/>
          </a:xfrm>
          <a:prstGeom prst="rect">
            <a:avLst/>
          </a:prstGeom>
          <a:noFill/>
        </p:spPr>
        <p:txBody>
          <a:bodyPr wrap="square">
            <a:spAutoFit/>
          </a:bodyPr>
          <a:lstStyle/>
          <a:p>
            <a:pPr algn="r"/>
            <a:r>
              <a:rPr sz="110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515600" cy="731520"/>
          </a:xfrm>
          <a:prstGeom prst="rect">
            <a:avLst/>
          </a:prstGeom>
          <a:noFill/>
        </p:spPr>
        <p:txBody>
          <a:bodyPr wrap="square">
            <a:spAutoFit/>
          </a:bodyPr>
          <a:lstStyle/>
          <a:p>
            <a:pPr algn="l"/>
            <a:r>
              <a:rPr sz="3200" b="1" i="0">
                <a:solidFill>
                  <a:srgbClr val="111827"/>
                </a:solidFill>
                <a:latin typeface="Calibri"/>
              </a:rPr>
              <a:t>Engineering Challenges Solved</a:t>
            </a:r>
          </a:p>
        </p:txBody>
      </p:sp>
      <p:sp>
        <p:nvSpPr>
          <p:cNvPr id="3" name="TextBox 2"/>
          <p:cNvSpPr txBox="1"/>
          <p:nvPr/>
        </p:nvSpPr>
        <p:spPr>
          <a:xfrm>
            <a:off x="640080" y="1463040"/>
            <a:ext cx="10881360" cy="4389120"/>
          </a:xfrm>
          <a:prstGeom prst="rect">
            <a:avLst/>
          </a:prstGeom>
          <a:noFill/>
        </p:spPr>
        <p:txBody>
          <a:bodyPr wrap="square">
            <a:spAutoFit/>
          </a:bodyPr>
          <a:lstStyle/>
          <a:p>
            <a:pPr>
              <a:spcAft>
                <a:spcPts val="2000"/>
              </a:spcAft>
            </a:pPr>
            <a:r>
              <a:rPr b="1" sz="1700">
                <a:solidFill>
                  <a:srgbClr val="6366F1"/>
                </a:solidFill>
                <a:latin typeface="Calibri"/>
              </a:rPr>
              <a:t>Background execution limits (Doze).  </a:t>
            </a:r>
            <a:r>
              <a:rPr sz="1700">
                <a:solidFill>
                  <a:srgbClr val="111827"/>
                </a:solidFill>
                <a:latin typeface="Calibri"/>
              </a:rPr>
              <a:t>The 5-second sampling loop was silently throttled once the screen turned off — gaps grew to several minutes. Fixed with a dedicated foreground Service plus a WorkManager-based watchdog that detects and alerts on silent failures.</a:t>
            </a:r>
          </a:p>
          <a:p>
            <a:pPr>
              <a:spcAft>
                <a:spcPts val="2000"/>
              </a:spcAft>
            </a:pPr>
            <a:r>
              <a:rPr b="1" sz="1700">
                <a:solidFill>
                  <a:srgbClr val="6366F1"/>
                </a:solidFill>
                <a:latin typeface="Calibri"/>
              </a:rPr>
              <a:t>Correct radio-technology detection.  </a:t>
            </a:r>
            <a:r>
              <a:rPr sz="1700">
                <a:solidFill>
                  <a:srgbClr val="111827"/>
                </a:solidFill>
                <a:latin typeface="Calibri"/>
              </a:rPr>
              <a:t>TelephonyManager.networkType misreports 5G NSA (LTE anchor + NR data) as plain 4G. Switched to TelephonyDisplayInfo.overrideNetworkType, the modern API built to distinguish NSA / SA / carrier-aggregation states.</a:t>
            </a:r>
          </a:p>
          <a:p>
            <a:pPr>
              <a:spcAft>
                <a:spcPts val="2000"/>
              </a:spcAft>
            </a:pPr>
            <a:r>
              <a:rPr b="1" sz="1700">
                <a:solidFill>
                  <a:srgbClr val="6366F1"/>
                </a:solidFill>
                <a:latin typeface="Calibri"/>
              </a:rPr>
              <a:t>Correct Cell ID extraction.  </a:t>
            </a:r>
            <a:r>
              <a:rPr sz="1700">
                <a:solidFill>
                  <a:srgbClr val="111827"/>
                </a:solidFill>
                <a:latin typeface="Calibri"/>
              </a:rPr>
              <a:t>CellIdentityLte.ci returns the ECI, not the local Cell ID. Decomposed per 3GPP: ECI = 256 × eNodeB ID + Cell ID.</a:t>
            </a:r>
          </a:p>
        </p:txBody>
      </p:sp>
      <p:sp>
        <p:nvSpPr>
          <p:cNvPr id="4" name="TextBox 3"/>
          <p:cNvSpPr txBox="1"/>
          <p:nvPr/>
        </p:nvSpPr>
        <p:spPr>
          <a:xfrm>
            <a:off x="11521440" y="6446520"/>
            <a:ext cx="457200" cy="320040"/>
          </a:xfrm>
          <a:prstGeom prst="rect">
            <a:avLst/>
          </a:prstGeom>
          <a:noFill/>
        </p:spPr>
        <p:txBody>
          <a:bodyPr wrap="square">
            <a:spAutoFit/>
          </a:bodyPr>
          <a:lstStyle/>
          <a:p>
            <a:pPr algn="r"/>
            <a:r>
              <a:rPr sz="110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515600" cy="640080"/>
          </a:xfrm>
          <a:prstGeom prst="rect">
            <a:avLst/>
          </a:prstGeom>
          <a:noFill/>
        </p:spPr>
        <p:txBody>
          <a:bodyPr wrap="square">
            <a:spAutoFit/>
          </a:bodyPr>
          <a:lstStyle/>
          <a:p>
            <a:pPr algn="l"/>
            <a:r>
              <a:rPr sz="3200" b="1" i="0">
                <a:solidFill>
                  <a:srgbClr val="111827"/>
                </a:solidFill>
                <a:latin typeface="Calibri"/>
              </a:rPr>
              <a:t>Data &amp; Findings — Route</a:t>
            </a:r>
          </a:p>
        </p:txBody>
      </p:sp>
      <p:pic>
        <p:nvPicPr>
          <p:cNvPr id="3" name="Picture 2" descr="1_route_map.png"/>
          <p:cNvPicPr>
            <a:picLocks noChangeAspect="1"/>
          </p:cNvPicPr>
          <p:nvPr/>
        </p:nvPicPr>
        <p:blipFill>
          <a:blip r:embed="rId2"/>
          <a:stretch>
            <a:fillRect/>
          </a:stretch>
        </p:blipFill>
        <p:spPr>
          <a:xfrm>
            <a:off x="3675887" y="1188720"/>
            <a:ext cx="4846320" cy="4846320"/>
          </a:xfrm>
          <a:prstGeom prst="rect">
            <a:avLst/>
          </a:prstGeom>
        </p:spPr>
      </p:pic>
      <p:sp>
        <p:nvSpPr>
          <p:cNvPr id="4" name="TextBox 3"/>
          <p:cNvSpPr txBox="1"/>
          <p:nvPr/>
        </p:nvSpPr>
        <p:spPr>
          <a:xfrm>
            <a:off x="1828800" y="6172200"/>
            <a:ext cx="8531352" cy="457200"/>
          </a:xfrm>
          <a:prstGeom prst="rect">
            <a:avLst/>
          </a:prstGeom>
          <a:noFill/>
        </p:spPr>
        <p:txBody>
          <a:bodyPr wrap="square">
            <a:spAutoFit/>
          </a:bodyPr>
          <a:lstStyle/>
          <a:p>
            <a:pPr algn="ctr"/>
            <a:r>
              <a:rPr sz="1400" b="0" i="0">
                <a:solidFill>
                  <a:srgbClr val="6B7280"/>
                </a:solidFill>
                <a:latin typeface="Calibri"/>
              </a:rPr>
              <a:t>Route colored by elapsed time — reveals repeated test passes over ~4 hours, not just a single trip</a:t>
            </a:r>
          </a:p>
        </p:txBody>
      </p:sp>
      <p:sp>
        <p:nvSpPr>
          <p:cNvPr id="5" name="TextBox 4"/>
          <p:cNvSpPr txBox="1"/>
          <p:nvPr/>
        </p:nvSpPr>
        <p:spPr>
          <a:xfrm>
            <a:off x="11521440" y="6446520"/>
            <a:ext cx="457200" cy="320040"/>
          </a:xfrm>
          <a:prstGeom prst="rect">
            <a:avLst/>
          </a:prstGeom>
          <a:noFill/>
        </p:spPr>
        <p:txBody>
          <a:bodyPr wrap="square">
            <a:spAutoFit/>
          </a:bodyPr>
          <a:lstStyle/>
          <a:p>
            <a:pPr algn="r"/>
            <a:r>
              <a:rPr sz="110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515600" cy="640080"/>
          </a:xfrm>
          <a:prstGeom prst="rect">
            <a:avLst/>
          </a:prstGeom>
          <a:noFill/>
        </p:spPr>
        <p:txBody>
          <a:bodyPr wrap="square">
            <a:spAutoFit/>
          </a:bodyPr>
          <a:lstStyle/>
          <a:p>
            <a:pPr algn="l"/>
            <a:r>
              <a:rPr sz="3000" b="1" i="0">
                <a:solidFill>
                  <a:srgbClr val="111827"/>
                </a:solidFill>
                <a:latin typeface="Calibri"/>
              </a:rPr>
              <a:t>Data &amp; Findings — Signal Strength (RSRP)</a:t>
            </a:r>
          </a:p>
        </p:txBody>
      </p:sp>
      <p:pic>
        <p:nvPicPr>
          <p:cNvPr id="3" name="Picture 2" descr="2_route_rsrp.png"/>
          <p:cNvPicPr>
            <a:picLocks noChangeAspect="1"/>
          </p:cNvPicPr>
          <p:nvPr/>
        </p:nvPicPr>
        <p:blipFill>
          <a:blip r:embed="rId2"/>
          <a:stretch>
            <a:fillRect/>
          </a:stretch>
        </p:blipFill>
        <p:spPr>
          <a:xfrm>
            <a:off x="914400" y="1234440"/>
            <a:ext cx="4572000" cy="4114800"/>
          </a:xfrm>
          <a:prstGeom prst="rect">
            <a:avLst/>
          </a:prstGeom>
        </p:spPr>
      </p:pic>
      <p:pic>
        <p:nvPicPr>
          <p:cNvPr id="4" name="Picture 3" descr="2_route_rsrp.png"/>
          <p:cNvPicPr>
            <a:picLocks noChangeAspect="1"/>
          </p:cNvPicPr>
          <p:nvPr/>
        </p:nvPicPr>
        <p:blipFill>
          <a:blip r:embed="rId3"/>
          <a:stretch>
            <a:fillRect/>
          </a:stretch>
        </p:blipFill>
        <p:spPr>
          <a:xfrm>
            <a:off x="6629400" y="1234440"/>
            <a:ext cx="4572000" cy="4114800"/>
          </a:xfrm>
          <a:prstGeom prst="rect">
            <a:avLst/>
          </a:prstGeom>
        </p:spPr>
      </p:pic>
      <p:sp>
        <p:nvSpPr>
          <p:cNvPr id="5" name="TextBox 4"/>
          <p:cNvSpPr txBox="1"/>
          <p:nvPr/>
        </p:nvSpPr>
        <p:spPr>
          <a:xfrm>
            <a:off x="594360" y="5422392"/>
            <a:ext cx="5212080" cy="548640"/>
          </a:xfrm>
          <a:prstGeom prst="rect">
            <a:avLst/>
          </a:prstGeom>
          <a:noFill/>
        </p:spPr>
        <p:txBody>
          <a:bodyPr wrap="square">
            <a:spAutoFit/>
          </a:bodyPr>
          <a:lstStyle/>
          <a:p>
            <a:pPr algn="ctr"/>
            <a:r>
              <a:rPr sz="1300" b="0" i="0">
                <a:solidFill>
                  <a:srgbClr val="6B7280"/>
                </a:solidFill>
                <a:latin typeface="Calibri"/>
              </a:rPr>
              <a:t>Session 1: ~10km journey, mixed coverage quality</a:t>
            </a:r>
          </a:p>
        </p:txBody>
      </p:sp>
      <p:sp>
        <p:nvSpPr>
          <p:cNvPr id="6" name="TextBox 5"/>
          <p:cNvSpPr txBox="1"/>
          <p:nvPr/>
        </p:nvSpPr>
        <p:spPr>
          <a:xfrm>
            <a:off x="6309360" y="5422392"/>
            <a:ext cx="5212080" cy="548640"/>
          </a:xfrm>
          <a:prstGeom prst="rect">
            <a:avLst/>
          </a:prstGeom>
          <a:noFill/>
        </p:spPr>
        <p:txBody>
          <a:bodyPr wrap="square">
            <a:spAutoFit/>
          </a:bodyPr>
          <a:lstStyle/>
          <a:p>
            <a:pPr algn="ctr"/>
            <a:r>
              <a:rPr sz="1300" b="0" i="0">
                <a:solidFill>
                  <a:srgbClr val="6B7280"/>
                </a:solidFill>
                <a:latin typeface="Calibri"/>
              </a:rPr>
              <a:t>Session 2: short drive, sharp dead zone at low point</a:t>
            </a:r>
          </a:p>
        </p:txBody>
      </p:sp>
      <p:sp>
        <p:nvSpPr>
          <p:cNvPr id="7" name="TextBox 6"/>
          <p:cNvSpPr txBox="1"/>
          <p:nvPr/>
        </p:nvSpPr>
        <p:spPr>
          <a:xfrm>
            <a:off x="11521440" y="6446520"/>
            <a:ext cx="457200" cy="320040"/>
          </a:xfrm>
          <a:prstGeom prst="rect">
            <a:avLst/>
          </a:prstGeom>
          <a:noFill/>
        </p:spPr>
        <p:txBody>
          <a:bodyPr wrap="square">
            <a:spAutoFit/>
          </a:bodyPr>
          <a:lstStyle/>
          <a:p>
            <a:pPr algn="r"/>
            <a:r>
              <a:rPr sz="110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515600" cy="640080"/>
          </a:xfrm>
          <a:prstGeom prst="rect">
            <a:avLst/>
          </a:prstGeom>
          <a:noFill/>
        </p:spPr>
        <p:txBody>
          <a:bodyPr wrap="square">
            <a:spAutoFit/>
          </a:bodyPr>
          <a:lstStyle/>
          <a:p>
            <a:pPr algn="l"/>
            <a:r>
              <a:rPr sz="3000" b="1" i="0">
                <a:solidFill>
                  <a:srgbClr val="111827"/>
                </a:solidFill>
                <a:latin typeface="Calibri"/>
              </a:rPr>
              <a:t>Data &amp; Findings — Network Type (4G / 5G)</a:t>
            </a:r>
          </a:p>
        </p:txBody>
      </p:sp>
      <p:pic>
        <p:nvPicPr>
          <p:cNvPr id="3" name="Picture 2" descr="3_route_network_type.png"/>
          <p:cNvPicPr>
            <a:picLocks noChangeAspect="1"/>
          </p:cNvPicPr>
          <p:nvPr/>
        </p:nvPicPr>
        <p:blipFill>
          <a:blip r:embed="rId2"/>
          <a:stretch>
            <a:fillRect/>
          </a:stretch>
        </p:blipFill>
        <p:spPr>
          <a:xfrm>
            <a:off x="914400" y="1234440"/>
            <a:ext cx="4572000" cy="4114800"/>
          </a:xfrm>
          <a:prstGeom prst="rect">
            <a:avLst/>
          </a:prstGeom>
        </p:spPr>
      </p:pic>
      <p:pic>
        <p:nvPicPr>
          <p:cNvPr id="4" name="Picture 3" descr="3_route_network_type.png"/>
          <p:cNvPicPr>
            <a:picLocks noChangeAspect="1"/>
          </p:cNvPicPr>
          <p:nvPr/>
        </p:nvPicPr>
        <p:blipFill>
          <a:blip r:embed="rId3"/>
          <a:stretch>
            <a:fillRect/>
          </a:stretch>
        </p:blipFill>
        <p:spPr>
          <a:xfrm>
            <a:off x="6629400" y="1234440"/>
            <a:ext cx="4572000" cy="4114800"/>
          </a:xfrm>
          <a:prstGeom prst="rect">
            <a:avLst/>
          </a:prstGeom>
        </p:spPr>
      </p:pic>
      <p:sp>
        <p:nvSpPr>
          <p:cNvPr id="5" name="TextBox 4"/>
          <p:cNvSpPr txBox="1"/>
          <p:nvPr/>
        </p:nvSpPr>
        <p:spPr>
          <a:xfrm>
            <a:off x="594360" y="5422392"/>
            <a:ext cx="5212080" cy="548640"/>
          </a:xfrm>
          <a:prstGeom prst="rect">
            <a:avLst/>
          </a:prstGeom>
          <a:noFill/>
        </p:spPr>
        <p:txBody>
          <a:bodyPr wrap="square">
            <a:spAutoFit/>
          </a:bodyPr>
          <a:lstStyle/>
          <a:p>
            <a:pPr algn="ctr"/>
            <a:r>
              <a:rPr sz="1300" b="0" i="0">
                <a:solidFill>
                  <a:srgbClr val="6B7280"/>
                </a:solidFill>
                <a:latin typeface="Calibri"/>
              </a:rPr>
              <a:t>Session 1: mixed 4G/5G along the route</a:t>
            </a:r>
          </a:p>
        </p:txBody>
      </p:sp>
      <p:sp>
        <p:nvSpPr>
          <p:cNvPr id="6" name="TextBox 5"/>
          <p:cNvSpPr txBox="1"/>
          <p:nvPr/>
        </p:nvSpPr>
        <p:spPr>
          <a:xfrm>
            <a:off x="6309360" y="5422392"/>
            <a:ext cx="5212080" cy="548640"/>
          </a:xfrm>
          <a:prstGeom prst="rect">
            <a:avLst/>
          </a:prstGeom>
          <a:noFill/>
        </p:spPr>
        <p:txBody>
          <a:bodyPr wrap="square">
            <a:spAutoFit/>
          </a:bodyPr>
          <a:lstStyle/>
          <a:p>
            <a:pPr algn="ctr"/>
            <a:r>
              <a:rPr sz="1300" b="0" i="0">
                <a:solidFill>
                  <a:srgbClr val="6B7280"/>
                </a:solidFill>
                <a:latin typeface="Calibri"/>
              </a:rPr>
              <a:t>Session 2: consistently 4G throughout</a:t>
            </a:r>
          </a:p>
        </p:txBody>
      </p:sp>
      <p:sp>
        <p:nvSpPr>
          <p:cNvPr id="7" name="TextBox 6"/>
          <p:cNvSpPr txBox="1"/>
          <p:nvPr/>
        </p:nvSpPr>
        <p:spPr>
          <a:xfrm>
            <a:off x="11521440" y="6446520"/>
            <a:ext cx="457200" cy="320040"/>
          </a:xfrm>
          <a:prstGeom prst="rect">
            <a:avLst/>
          </a:prstGeom>
          <a:noFill/>
        </p:spPr>
        <p:txBody>
          <a:bodyPr wrap="square">
            <a:spAutoFit/>
          </a:bodyPr>
          <a:lstStyle/>
          <a:p>
            <a:pPr algn="r"/>
            <a:r>
              <a:rPr sz="110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515600" cy="640080"/>
          </a:xfrm>
          <a:prstGeom prst="rect">
            <a:avLst/>
          </a:prstGeom>
          <a:noFill/>
        </p:spPr>
        <p:txBody>
          <a:bodyPr wrap="square">
            <a:spAutoFit/>
          </a:bodyPr>
          <a:lstStyle/>
          <a:p>
            <a:pPr algn="l"/>
            <a:r>
              <a:rPr sz="3000" b="1" i="0">
                <a:solidFill>
                  <a:srgbClr val="111827"/>
                </a:solidFill>
                <a:latin typeface="Calibri"/>
              </a:rPr>
              <a:t>Data &amp; Findings — Downlink Throughput</a:t>
            </a:r>
          </a:p>
        </p:txBody>
      </p:sp>
      <p:pic>
        <p:nvPicPr>
          <p:cNvPr id="3" name="Picture 2" descr="4_route_throughput.png"/>
          <p:cNvPicPr>
            <a:picLocks noChangeAspect="1"/>
          </p:cNvPicPr>
          <p:nvPr/>
        </p:nvPicPr>
        <p:blipFill>
          <a:blip r:embed="rId2"/>
          <a:stretch>
            <a:fillRect/>
          </a:stretch>
        </p:blipFill>
        <p:spPr>
          <a:xfrm>
            <a:off x="914400" y="1234440"/>
            <a:ext cx="4572000" cy="4114800"/>
          </a:xfrm>
          <a:prstGeom prst="rect">
            <a:avLst/>
          </a:prstGeom>
        </p:spPr>
      </p:pic>
      <p:pic>
        <p:nvPicPr>
          <p:cNvPr id="4" name="Picture 3" descr="4_route_throughput.png"/>
          <p:cNvPicPr>
            <a:picLocks noChangeAspect="1"/>
          </p:cNvPicPr>
          <p:nvPr/>
        </p:nvPicPr>
        <p:blipFill>
          <a:blip r:embed="rId3"/>
          <a:stretch>
            <a:fillRect/>
          </a:stretch>
        </p:blipFill>
        <p:spPr>
          <a:xfrm>
            <a:off x="6629400" y="1234440"/>
            <a:ext cx="4572000" cy="4114800"/>
          </a:xfrm>
          <a:prstGeom prst="rect">
            <a:avLst/>
          </a:prstGeom>
        </p:spPr>
      </p:pic>
      <p:sp>
        <p:nvSpPr>
          <p:cNvPr id="5" name="TextBox 4"/>
          <p:cNvSpPr txBox="1"/>
          <p:nvPr/>
        </p:nvSpPr>
        <p:spPr>
          <a:xfrm>
            <a:off x="594360" y="5422392"/>
            <a:ext cx="5212080" cy="548640"/>
          </a:xfrm>
          <a:prstGeom prst="rect">
            <a:avLst/>
          </a:prstGeom>
          <a:noFill/>
        </p:spPr>
        <p:txBody>
          <a:bodyPr wrap="square">
            <a:spAutoFit/>
          </a:bodyPr>
          <a:lstStyle/>
          <a:p>
            <a:pPr algn="ctr"/>
            <a:r>
              <a:rPr sz="1300" b="0" i="0">
                <a:solidFill>
                  <a:srgbClr val="6B7280"/>
                </a:solidFill>
                <a:latin typeface="Calibri"/>
              </a:rPr>
              <a:t>Session 1: bursty throughput, log scale</a:t>
            </a:r>
          </a:p>
        </p:txBody>
      </p:sp>
      <p:sp>
        <p:nvSpPr>
          <p:cNvPr id="6" name="TextBox 5"/>
          <p:cNvSpPr txBox="1"/>
          <p:nvPr/>
        </p:nvSpPr>
        <p:spPr>
          <a:xfrm>
            <a:off x="6309360" y="5422392"/>
            <a:ext cx="5212080" cy="548640"/>
          </a:xfrm>
          <a:prstGeom prst="rect">
            <a:avLst/>
          </a:prstGeom>
          <a:noFill/>
        </p:spPr>
        <p:txBody>
          <a:bodyPr wrap="square">
            <a:spAutoFit/>
          </a:bodyPr>
          <a:lstStyle/>
          <a:p>
            <a:pPr algn="ctr"/>
            <a:r>
              <a:rPr sz="1300" b="0" i="0">
                <a:solidFill>
                  <a:srgbClr val="6B7280"/>
                </a:solidFill>
                <a:latin typeface="Calibri"/>
              </a:rPr>
              <a:t>Session 2: mostly low-rate background traffic</a:t>
            </a:r>
          </a:p>
        </p:txBody>
      </p:sp>
      <p:sp>
        <p:nvSpPr>
          <p:cNvPr id="7" name="TextBox 6"/>
          <p:cNvSpPr txBox="1"/>
          <p:nvPr/>
        </p:nvSpPr>
        <p:spPr>
          <a:xfrm>
            <a:off x="11521440" y="6446520"/>
            <a:ext cx="457200" cy="320040"/>
          </a:xfrm>
          <a:prstGeom prst="rect">
            <a:avLst/>
          </a:prstGeom>
          <a:noFill/>
        </p:spPr>
        <p:txBody>
          <a:bodyPr wrap="square">
            <a:spAutoFit/>
          </a:bodyPr>
          <a:lstStyle/>
          <a:p>
            <a:pPr algn="r"/>
            <a:r>
              <a:rPr sz="110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914400" y="2468880"/>
            <a:ext cx="10058400" cy="914400"/>
          </a:xfrm>
          <a:prstGeom prst="rect">
            <a:avLst/>
          </a:prstGeom>
          <a:noFill/>
        </p:spPr>
        <p:txBody>
          <a:bodyPr wrap="square">
            <a:spAutoFit/>
          </a:bodyPr>
          <a:lstStyle/>
          <a:p>
            <a:pPr algn="l"/>
            <a:r>
              <a:rPr sz="4000" b="1" i="0">
                <a:solidFill>
                  <a:srgbClr val="FFFFFF"/>
                </a:solidFill>
                <a:latin typeface="Calibri"/>
              </a:rPr>
              <a:t>Live Demo</a:t>
            </a:r>
          </a:p>
        </p:txBody>
      </p:sp>
      <p:sp>
        <p:nvSpPr>
          <p:cNvPr id="3" name="TextBox 2"/>
          <p:cNvSpPr txBox="1"/>
          <p:nvPr/>
        </p:nvSpPr>
        <p:spPr>
          <a:xfrm>
            <a:off x="914400" y="3291840"/>
            <a:ext cx="10058400" cy="548640"/>
          </a:xfrm>
          <a:prstGeom prst="rect">
            <a:avLst/>
          </a:prstGeom>
          <a:noFill/>
        </p:spPr>
        <p:txBody>
          <a:bodyPr wrap="square">
            <a:spAutoFit/>
          </a:bodyPr>
          <a:lstStyle/>
          <a:p>
            <a:pPr algn="l"/>
            <a:r>
              <a:rPr sz="2000" b="0" i="0">
                <a:solidFill>
                  <a:srgbClr val="CADCFC"/>
                </a:solidFill>
                <a:latin typeface="Calibri"/>
              </a:rPr>
              <a:t>Grafana + InfluxDB dashboard</a:t>
            </a:r>
          </a:p>
        </p:txBody>
      </p:sp>
      <p:sp>
        <p:nvSpPr>
          <p:cNvPr id="4" name="TextBox 3"/>
          <p:cNvSpPr txBox="1"/>
          <p:nvPr/>
        </p:nvSpPr>
        <p:spPr>
          <a:xfrm>
            <a:off x="914400" y="3840480"/>
            <a:ext cx="9601200" cy="457200"/>
          </a:xfrm>
          <a:prstGeom prst="rect">
            <a:avLst/>
          </a:prstGeom>
          <a:noFill/>
        </p:spPr>
        <p:txBody>
          <a:bodyPr wrap="square">
            <a:spAutoFit/>
          </a:bodyPr>
          <a:lstStyle/>
          <a:p>
            <a:pPr algn="l"/>
            <a:r>
              <a:rPr sz="1400" b="0" i="1">
                <a:solidFill>
                  <a:srgbClr val="6B7280"/>
                </a:solidFill>
                <a:latin typeface="Calibri"/>
              </a:rPr>
              <a:t>Real-time signal, throughput, and battery data across every device and session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